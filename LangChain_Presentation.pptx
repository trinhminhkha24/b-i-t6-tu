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LangChain 1.x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CD6F1"/>
                </a:solidFill>
              </a:rPr>
              <a:t>Demo từng Method — RAG &amp; Agent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87168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Seminar Môn Học  ·  Thực hành kèm Slide  ·  20 slide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1371600" cy="50292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Người A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840480"/>
            <a:ext cx="1371600" cy="5029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840480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Người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840480"/>
            <a:ext cx="1371600" cy="50292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Người 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3840480"/>
            <a:ext cx="1371600" cy="50292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3840480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Người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Nhóm trình bày: A · B · C ·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Nội dung &amp; Phân công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Mở đầu · Vì sao cần LangChain · §1 Document · §2 Text Splitter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640080" cy="64008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§3 Embeddings · §4 Vector 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118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§5 Retriever · §6 Prompt Template · §7 Chat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640080" cy="64008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0060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§8 Output Parser · §9 LCEL · §10 RAG · §11 Agent · Ecosystem · Tổng kết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0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CCD6F1"/>
                </a:solidFill>
              </a:rPr>
              <a:t>20 slide · 4 người · ước tính ~25–28 phút trình bày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LangChain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4A9EFF"/>
                </a:solidFill>
              </a:rPr>
              <a:t>Người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20040" cy="3200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Framework Python/JS để xây dựng ứng dụng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320040" cy="3200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Cung cấp các building block: Document, Splitter, Embeddings, VectorStore, Chain,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320040" cy="3200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Hỗ trợ mọi LLM provider (Google, OpenAI, Anthropic…) qua API thống nhất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320040" cy="3200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Phiên bản 1.x dùng LCEL (LangChain Expression Language) — ghép component bằng 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86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9EFF"/>
                </a:solidFill>
              </a:rPr>
              <a:t>Document</a:t>
            </a:r>
            <a:r>
              <a:rPr sz="1400" b="1">
                <a:solidFill>
                  <a:srgbClr val="FFFFFF"/>
                </a:solidFill>
              </a:rPr>
              <a:t>  →  </a:t>
            </a:r>
            <a:r>
              <a:rPr sz="1400" b="1">
                <a:solidFill>
                  <a:srgbClr val="00D4AA"/>
                </a:solidFill>
              </a:rPr>
              <a:t>Splitter</a:t>
            </a:r>
            <a:r>
              <a:rPr sz="1400" b="1">
                <a:solidFill>
                  <a:srgbClr val="FFFFFF"/>
                </a:solidFill>
              </a:rPr>
              <a:t>  →  </a:t>
            </a:r>
            <a:r>
              <a:rPr sz="1400" b="1">
                <a:solidFill>
                  <a:srgbClr val="4A9EFF"/>
                </a:solidFill>
              </a:rPr>
              <a:t>Embed</a:t>
            </a:r>
            <a:r>
              <a:rPr sz="1400" b="1">
                <a:solidFill>
                  <a:srgbClr val="FFFFFF"/>
                </a:solidFill>
              </a:rPr>
              <a:t>  →  </a:t>
            </a:r>
            <a:r>
              <a:rPr sz="1400" b="1">
                <a:solidFill>
                  <a:srgbClr val="00D4AA"/>
                </a:solidFill>
              </a:rPr>
              <a:t>VectorStore</a:t>
            </a:r>
            <a:r>
              <a:rPr sz="1400" b="1">
                <a:solidFill>
                  <a:srgbClr val="FFFFFF"/>
                </a:solidFill>
              </a:rPr>
              <a:t>  →  </a:t>
            </a:r>
            <a:r>
              <a:rPr sz="1400" b="1">
                <a:solidFill>
                  <a:srgbClr val="4A9EFF"/>
                </a:solidFill>
              </a:rPr>
              <a:t>Retriever</a:t>
            </a:r>
            <a:r>
              <a:rPr sz="1400" b="1">
                <a:solidFill>
                  <a:srgbClr val="FFFFFF"/>
                </a:solidFill>
              </a:rPr>
              <a:t>  →  </a:t>
            </a:r>
            <a:r>
              <a:rPr sz="1400" b="1">
                <a:solidFill>
                  <a:srgbClr val="00D4AA"/>
                </a:solidFill>
              </a:rPr>
              <a:t>Prompt</a:t>
            </a:r>
            <a:r>
              <a:rPr sz="1400" b="1">
                <a:solidFill>
                  <a:srgbClr val="FFFFFF"/>
                </a:solidFill>
              </a:rPr>
              <a:t>  →  </a:t>
            </a:r>
            <a:r>
              <a:rPr sz="1400" b="1">
                <a:solidFill>
                  <a:srgbClr val="4A9EFF"/>
                </a:solidFill>
              </a:rPr>
              <a:t>LLM</a:t>
            </a:r>
            <a:r>
              <a:rPr sz="1400" b="1">
                <a:solidFill>
                  <a:srgbClr val="FFFFFF"/>
                </a:solidFill>
              </a:rPr>
              <a:t>  →  </a:t>
            </a:r>
            <a:r>
              <a:rPr sz="1400" b="1">
                <a:solidFill>
                  <a:srgbClr val="00D4AA"/>
                </a:solidFill>
              </a:rPr>
              <a:t>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Vì sao cần LangChain?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4A9EFF"/>
                </a:solidFill>
              </a:rPr>
              <a:t>Người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20040" cy="3200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Gọi API LLM trực tiếp: tự quản lý prompt, lịch sử chat, retry, parse JSON thủ công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320040" cy="3200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Đổi provider (OpenAI → Gemini) phải viết lại toàn bộ code gọi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320040" cy="3200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RAG/Agent thủ công: tự nối retriever, prompt, tool-calling — dễ lỗi, khó bảo trì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320040" cy="3200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LangChain cho interface Runnable thống nhất (invoke/stream/batch) + ghép bằng |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💡  LangChain không thay LLM nghĩ hộ bạn — nó giúp đóng gói best practice</a:t>
            </a:r>
          </a:p>
          <a:p>
            <a:r>
              <a:rPr sz="1400">
                <a:solidFill>
                  <a:srgbClr val="FFFFFF"/>
                </a:solidFill>
              </a:rPr>
              <a:t>    (metadata, retry, structured output, tracing) thành các building block tái sử dụng.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§1  Document — Đơn vị dữ liệu cơ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4A9EFF"/>
                </a:solidFill>
              </a:rPr>
              <a:t>Người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486400" cy="173736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5D6FF"/>
                </a:solidFill>
                <a:latin typeface="Consolas"/>
              </a:rPr>
              <a:t>from langchain_core.documents import Document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d = Document(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page_content='Sinh viên đăng ký tối đa 24 tín chỉ.',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metadata={'source': 'quy_che.md', 'dieu': 4}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96012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Thuộc tính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486400" cy="548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5389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page_content  (str)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67320"/>
            <a:ext cx="5212080" cy="17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Nội dung văn bản (bắt buộc)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57400"/>
            <a:ext cx="5486400" cy="548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9397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metadata  (dict)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07400"/>
            <a:ext cx="5212080" cy="17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Nguồn, số trang, điều khoản…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97480"/>
            <a:ext cx="5486400" cy="548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73405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id  (str)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47480"/>
            <a:ext cx="5212080" cy="17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UUID tự sinh (tuỳ chọn)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💡  Đặt metadata đầy đủ ngay từ bước tạo Document</a:t>
            </a:r>
          </a:p>
          <a:p>
            <a:r>
              <a:rPr sz="1400">
                <a:solidFill>
                  <a:srgbClr val="FFFFFF"/>
                </a:solidFill>
              </a:rPr>
              <a:t>    — về sau dùng để lọc và trích dẫn nguồn.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§2  RecursiveCharacterTextSplitter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4A9EFF"/>
                </a:solidFill>
              </a:rPr>
              <a:t>Người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Tham số quan trọng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262067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chunk_size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5030" y="1408176"/>
            <a:ext cx="240853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500–1000 ký tự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91600"/>
            <a:ext cx="5029200" cy="38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Kích thước tối đa mỗi chunk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6"/>
            <a:ext cx="262067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chunk_overlap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5030" y="2414016"/>
            <a:ext cx="240853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10–20%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97440"/>
            <a:ext cx="5029200" cy="38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Số ký tự lặp giữa 2 chunk liền kề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19856"/>
            <a:ext cx="262067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separators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5030" y="3419856"/>
            <a:ext cx="240853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["\n\n","\n"," ",""]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03280"/>
            <a:ext cx="5029200" cy="38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Thứ tự ưu tiên điểm cắt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25696"/>
            <a:ext cx="262067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add_start_index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5030" y="4425696"/>
            <a:ext cx="240853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True/False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09120"/>
            <a:ext cx="5029200" cy="38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Lưu vị trí gốc vào 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96012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Minh hoạ chunk_overlap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417320"/>
            <a:ext cx="5486400" cy="6400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463040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Chunk 0: …tối đa 24 tín chỉ. Sinh viên cảnh báo…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148840"/>
            <a:ext cx="5486400" cy="64008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194560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Chunk 1: Sinh viên cảnh báo chỉ được 14 tín…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1417320"/>
            <a:ext cx="1645920" cy="13716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6288" y="192024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overlap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⚠  Overlap = 0 trên văn bản có \n\n không làm thay đổi kết quả</a:t>
            </a:r>
          </a:p>
          <a:p>
            <a:r>
              <a:rPr sz="1400">
                <a:solidFill>
                  <a:srgbClr val="FFFFFF"/>
                </a:solidFill>
              </a:rPr>
              <a:t>    vì splitter đã cắt theo đoạn — overlap chỉ kích hoạt khi cắt ký tự.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§3  Embeddings — Văn bản →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D4AA"/>
                </a:solidFill>
              </a:rPr>
              <a:t>Người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Hai phương thức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94360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53896"/>
            <a:ext cx="2953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embed_query(text)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1453896"/>
            <a:ext cx="27157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1 str → 1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37320"/>
            <a:ext cx="5669280" cy="38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Dùng cho câu hỏi đầu vào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94360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59736"/>
            <a:ext cx="2953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embed_documents(texts)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459736"/>
            <a:ext cx="27157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list[str] → list[vector]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43160"/>
            <a:ext cx="5669280" cy="38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Dùng để index tài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9601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Cosine Similarity — thước đo "gần nhau"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417320"/>
            <a:ext cx="5212080" cy="26060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50876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+0.83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508760"/>
            <a:ext cx="393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Mỗi HK đăng ký tối đa 24 tín chỉ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574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+0.76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057400"/>
            <a:ext cx="393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SV cảnh báo đăng ký tối đa 14 tín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+0.62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606040"/>
            <a:ext cx="393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Lệ phí phúc khảo là 50.000 đồng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5468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+0.54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154680"/>
            <a:ext cx="393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Hôm nay Sài Gòn trời mưa rất 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11247120" cy="64008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Câu hỏi: "Đăng ký nhiều nhất bao nhiêu tín chỉ?"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532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Demo: GoogleGenerativeAIEmbeddings → vector 3072 chiều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§4  Vector Store — Lưu &amp; Tìm kiếm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D4AA"/>
                </a:solidFill>
              </a:rPr>
              <a:t>Người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Các method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943600" cy="7772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53896"/>
            <a:ext cx="5669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add_documents(docs)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37320"/>
            <a:ext cx="5669280" cy="33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Index danh sách Document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943600" cy="7772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68296"/>
            <a:ext cx="5669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similarity_search(q, k=3)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51720"/>
            <a:ext cx="5669280" cy="33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Trả k doc gần nhất (cosine)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5943600" cy="7772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82696"/>
            <a:ext cx="5669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similarity_search_with_score(...)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66120"/>
            <a:ext cx="5669280" cy="33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Kèm điểm số (score thấp = gần hơn)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943600" cy="7772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97096"/>
            <a:ext cx="5669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max_marginal_relevance_search(...)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80520"/>
            <a:ext cx="5669280" cy="33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MMR: cân bằng liên quan &amp; đa dạng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9601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MMR — Maximal Marginal Relevance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417320"/>
            <a:ext cx="5212080" cy="182880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5087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lambda_mult = 1.0  →  thuần liên quan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0574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lambda_mult = 0.5  →  cân bằng (khuyến nghị)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60604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lambda_mult = 0.0  →  thuần đa dạng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383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Production: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33756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Chỉ đổi dòng khởi tạo → Chroma / Qdrant / PGVector, API hoàn toàn giống nhau.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32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⚠  Ý nghĩa score khác nhau tuỳ provider:</a:t>
            </a:r>
          </a:p>
          <a:p>
            <a:r>
              <a:rPr sz="1400">
                <a:solidFill>
                  <a:srgbClr val="FFFFFF"/>
                </a:solidFill>
              </a:rPr>
              <a:t>    InMemoryVectorStore → khoảng cách (nhỏ hơn = tốt hơn).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§5  Retriever — VectorStore thành Runnable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9F43"/>
                </a:solidFill>
              </a:rPr>
              <a:t>Người 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486400" cy="9144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5D6FF"/>
                </a:solidFill>
                <a:latin typeface="Consolas"/>
              </a:rPr>
              <a:t>r = store.as_retriever(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search_type="mmr",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search_kwargs={"k": 3, "fetch_k": 8, "lambda_mult": 0.5}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5486400" cy="548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0253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similarity, k=2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5960"/>
            <a:ext cx="5212080" cy="17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Nhanh, phù hợp câu hỏi cụ thể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86400" cy="548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4261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mmr, k=3, λ=0.5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56040"/>
            <a:ext cx="5212080" cy="17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Cân bằng liên quan &amp; đa dạng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5486400" cy="548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8269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similarity_score_threshold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96120"/>
            <a:ext cx="5212080" cy="17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Lọc theo ngưỡng — chống hallucination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9601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Vì là Runnable → có sẵn: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5486400" cy="548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5389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invoke(query)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67320"/>
            <a:ext cx="5212080" cy="17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1 query → list[Document]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057400"/>
            <a:ext cx="5486400" cy="548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09397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batch(queries)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407400"/>
            <a:ext cx="5212080" cy="17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N queries song song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97480"/>
            <a:ext cx="5486400" cy="548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73405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stream(query)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47480"/>
            <a:ext cx="5212080" cy="17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Streaming documents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337560"/>
            <a:ext cx="5486400" cy="548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37413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| operator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87560"/>
            <a:ext cx="5212080" cy="17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Ghép vào LCEL chain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532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Ngưỡng lọc: câu ngoài phạm vi nên trả về [] thay vì lôi tài liệu không liên quan.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§6  Prompt Template — Prompt tái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9F43"/>
                </a:solidFill>
              </a:rPr>
              <a:t>Người 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5087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64592" cy="15087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Mức 1 — Mơ hồ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  <a:latin typeface="Consolas"/>
              </a:rPr>
              <a:t>"Trả lời câu hỏi: {cau_hoi}"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4663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Không có ngữ cảnh, dễ hallucinate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11247120" cy="15087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164592" cy="150876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Mức 2 — Có ngữ cảnh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54680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  <a:latin typeface="Consolas"/>
              </a:rPr>
              <a:t>"Dựa vào {context}</a:t>
            </a:r>
          </a:p>
          <a:p>
            <a:pPr algn="l"/>
            <a:r>
              <a:rPr sz="1400" b="0" i="0">
                <a:solidFill>
                  <a:srgbClr val="CCD6F1"/>
                </a:solidFill>
                <a:latin typeface="Consolas"/>
              </a:rPr>
              <a:t>Trả lời: {cau_hoi}"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154680"/>
            <a:ext cx="4663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Tốt hơn nhưng chưa ràng buộc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15087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64592" cy="15087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Mức 3 — Đầy đủ ràng buộc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  <a:latin typeface="Consolas"/>
              </a:rPr>
              <a:t>System prompt + chỉ dùng context +</a:t>
            </a:r>
          </a:p>
          <a:p>
            <a:pPr algn="l"/>
            <a:r>
              <a:rPr sz="1400" b="0" i="0">
                <a:solidFill>
                  <a:srgbClr val="CCD6F1"/>
                </a:solidFill>
                <a:latin typeface="Consolas"/>
              </a:rPr>
              <a:t>"Nếu không đủ thì nói không biết"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846320"/>
            <a:ext cx="4663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Giảm hallucination mạnh nhất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partial() → điền trước biến cố định (ngày, tên trường)  |  MessagesPlaceholder → lịch sử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§7  Chat Model — invoke / stream /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9F43"/>
                </a:solidFill>
              </a:rPr>
              <a:t>Người 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42416"/>
            <a:ext cx="571134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invoke(input)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702" y="1042416"/>
            <a:ext cx="52614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→ AIMessage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25840"/>
            <a:ext cx="10972800" cy="33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Cần câu trả lời hoàn chỉnh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1247120" cy="7772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571134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stream(input)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5702" y="1956816"/>
            <a:ext cx="52614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→ Iterator[AIChunk]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40240"/>
            <a:ext cx="10972800" cy="33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Hiển thị dần cho người dùng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1247120" cy="7772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71216"/>
            <a:ext cx="571134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batch(list)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702" y="2871216"/>
            <a:ext cx="52614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→ list[AIMessage]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54640"/>
            <a:ext cx="10972800" cy="33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Nhiều request song song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11247120" cy="82296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Demo benchmark (gemini-3.5-flash-lite):</a:t>
            </a:r>
          </a:p>
          <a:p>
            <a:r>
              <a:rPr sz="1400">
                <a:solidFill>
                  <a:srgbClr val="FFFFFF"/>
                </a:solidFill>
              </a:rPr>
              <a:t>Tuần tự 3 câu: 40.6s   →   batch(): 38.6s  (~1.1× nhanh hơn)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temperature=0 → quyết định, temperature cao → sáng tạo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§8  Output Parser — Chuẩn hoá kết quả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6B9D"/>
                </a:solidFill>
              </a:rPr>
              <a:t>Người 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StrOutputParser()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25840"/>
            <a:ext cx="10972800" cy="38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AIMessage → str   (dùng ở hầu hết mọi chain)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112471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93976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with_structured_output(Pydantic)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77400"/>
            <a:ext cx="10972800" cy="38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Ép model trả đúng schema → dùng function calling của provider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47120" cy="192024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5D6FF"/>
                </a:solidFill>
                <a:latin typeface="Consolas"/>
              </a:rPr>
              <a:t>class DieuKhoan(BaseModel):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so_dieu: int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tieu_de: str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cac_con_so: list[str]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tom_tat: str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model.with_structured_output(DieuKhoan).invoke(noi_dung_dieu)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💡  Model bị ép sinh đúng schema — không phải "xin" nó trả JSON rồi hy vọng.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§9  LCEL — Ghép component bằng  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6B9D"/>
                </a:solidFill>
              </a:rPr>
              <a:t>Người 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16002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5D6FF"/>
                </a:solidFill>
                <a:latin typeface="Consolas"/>
              </a:rPr>
              <a:t>chain = (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{"context": retriever | format_docs,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 "cau_hoi": RunnablePassthrough()}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| prompt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| model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    | StrOutputParser()</a:t>
            </a:r>
          </a:p>
          <a:p>
            <a:r>
              <a:rPr sz="1300">
                <a:solidFill>
                  <a:srgbClr val="A5D6FF"/>
                </a:solidFill>
                <a:latin typeface="Consolas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548640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7977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RunnablePassthrough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63200"/>
            <a:ext cx="5212080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Truyền thẳng 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48640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77977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RunnableParallel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163200"/>
            <a:ext cx="5212080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Chạy nhiều nhánh song song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8640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0273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RunnableLambda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86160"/>
            <a:ext cx="5212080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Hàm Python → Runnable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566160"/>
            <a:ext cx="548640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60273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.assign()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986160"/>
            <a:ext cx="5212080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Thêm key vào dict đang chảy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112471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937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Mọi component là Runnable → đều có invoke / stream / batch / ainvoke.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§10  RAG Pipeline Hoàn chỉnh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6B9D"/>
                </a:solidFill>
              </a:rPr>
              <a:t>Người 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332411" cy="10058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33241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Câu hỏi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9611" y="17373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9651" y="1463040"/>
            <a:ext cx="1332411" cy="10058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9651" y="1463040"/>
            <a:ext cx="133241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Retriever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(k=3)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2062" y="17373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62102" y="1463040"/>
            <a:ext cx="1332411" cy="10058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2102" y="1463040"/>
            <a:ext cx="133241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format_docs()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4513" y="17373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4553" y="1463040"/>
            <a:ext cx="1332411" cy="100584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4553" y="1463040"/>
            <a:ext cx="133241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Prompt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Mức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6964" y="17373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67004" y="1463040"/>
            <a:ext cx="1332411" cy="100584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7004" y="1463040"/>
            <a:ext cx="133241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Gemini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9415" y="17373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9455" y="1463040"/>
            <a:ext cx="1332411" cy="10058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9455" y="1463040"/>
            <a:ext cx="133241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StrOutput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Parser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1866" y="17373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71906" y="1463040"/>
            <a:ext cx="1332411" cy="10058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1906" y="1463040"/>
            <a:ext cx="133241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Trả lời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+ Nguồn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Kết quả demo: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54680"/>
            <a:ext cx="11247120" cy="713232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154680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Trong phạm 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154680"/>
            <a:ext cx="8686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"Sinh viên đăng ký tối đa 24 tín chỉ (Nguồn: quy_che - §4)"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7712"/>
            <a:ext cx="11247120" cy="713232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712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Trích nguồn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977712"/>
            <a:ext cx="8686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Tên nguồn + điều khoản đính kèm mỗi câu trả lời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00744"/>
            <a:ext cx="11247120" cy="713232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800744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Câu bẫy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800744"/>
            <a:ext cx="8686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"Học phí một tín chỉ?" → "Tôi không tìm thấy thông tin này"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623776"/>
            <a:ext cx="11247120" cy="713232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623776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Ảnh hưởng 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623776"/>
            <a:ext cx="8686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k=1 cụt  ·  k=3 đủ  ·  k=6 hơi dư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§11  Agent — Model tự chọn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6B9D"/>
                </a:solidFill>
              </a:rPr>
              <a:t>Người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Chain (RAG)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Luồng cố định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1732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Model tự quyết định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Luôn retrieve rồi generate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2316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Gọi tool nào, mấy lần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2900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Kiểm soát cao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42900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42900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Linh hoạt, đa bước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3484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Độ trễ dự đoán được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434840"/>
            <a:ext cx="5303520" cy="82296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43484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Phù hợp câu hỏi phức tạp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12080"/>
            <a:ext cx="11247120" cy="141732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4924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Demo: "Em có 3 môn: 3.7 (3tc), 3.0 (4tc), 2.5 (2tc). GPA và điều kiện khóa luận?"</a:t>
            </a:r>
          </a:p>
          <a:p>
            <a:r>
              <a:rPr sz="1400">
                <a:solidFill>
                  <a:srgbClr val="FFFFFF"/>
                </a:solidFill>
              </a:rPr>
              <a:t>→ Tool 1: tinh_gpa("3.7:3, 3.0:4, 2.5:2") = 3.12</a:t>
            </a:r>
          </a:p>
          <a:p>
            <a:r>
              <a:rPr sz="1400">
                <a:solidFill>
                  <a:srgbClr val="FFFFFF"/>
                </a:solidFill>
              </a:rPr>
              <a:t>→ Tool 2: tra_cuu_quy_che("điều kiện làm khóa luận") → trả lời kết hợp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LangChain Ecosystem — Bước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6B9D"/>
                </a:solidFill>
              </a:rPr>
              <a:t>Người 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7120" cy="2834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25296"/>
            <a:ext cx="335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8720"/>
            <a:ext cx="3352800" cy="239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Xây agent/multi-step workflow dạng graph: có state, cycle, checkpoint — vượt qua giới hạn của AgentExecutor đơn giản.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200" y="1188720"/>
            <a:ext cx="3627120" cy="2834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360" y="1225296"/>
            <a:ext cx="335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LangSmith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360" y="1608720"/>
            <a:ext cx="3352800" cy="239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Trace từng bước của chain/agent, đánh giá (eval) chất lượng câu trả lời, theo dõi latency &amp; chi phí.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7200" y="1188720"/>
            <a:ext cx="3627120" cy="283464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4360" y="1225296"/>
            <a:ext cx="335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LangServe / 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4360" y="1608720"/>
            <a:ext cx="3352800" cy="239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Deploy một chain LCEL thành REST API chỉ với vài dòng code, dùng được ngay cho frontend.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526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Trong seminar này nhóm chỉ demo phần core (LCEL + RAG + Agent).</a:t>
            </a:r>
          </a:p>
          <a:p>
            <a:r>
              <a:rPr sz="1400">
                <a:solidFill>
                  <a:srgbClr val="FFFFFF"/>
                </a:solidFill>
              </a:rPr>
              <a:t>LangGraph &amp; LangSmith phù hợp cho bước tiếp theo khi đưa hệ thống lên production.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Bảng tổng kết tham số quan trọng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6B9D"/>
                </a:solidFill>
              </a:rPr>
              <a:t>Người 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57600" cy="4572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Tham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960120"/>
            <a:ext cx="3200400" cy="4572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9875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Giá trị đề xuất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960120"/>
            <a:ext cx="4389120" cy="4572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9875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Ghi chú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365760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63040"/>
            <a:ext cx="34747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chunk_size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463040"/>
            <a:ext cx="320040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563040"/>
            <a:ext cx="30175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500–1000 ký tự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463040"/>
            <a:ext cx="438912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563040"/>
            <a:ext cx="4206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Tiếng Việt: ~800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365760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94560"/>
            <a:ext cx="34747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chunk_overlap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194560"/>
            <a:ext cx="320040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294560"/>
            <a:ext cx="30175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10–20% size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194560"/>
            <a:ext cx="438912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294560"/>
            <a:ext cx="4206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100–200 ký tự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26080"/>
            <a:ext cx="34747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 (retriever)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926080"/>
            <a:ext cx="320040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026080"/>
            <a:ext cx="30175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3–5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926080"/>
            <a:ext cx="438912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026080"/>
            <a:ext cx="4206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Câu hẹp: 3 · Câu rộng: 5–6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365760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757600"/>
            <a:ext cx="34747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lambda_mult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3657600"/>
            <a:ext cx="320040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3757600"/>
            <a:ext cx="30175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657600"/>
            <a:ext cx="438912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757600"/>
            <a:ext cx="4206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Cân bằng liên quan &amp; đa dạng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89120"/>
            <a:ext cx="365760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89120"/>
            <a:ext cx="34747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temperature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4389120"/>
            <a:ext cx="320040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4489120"/>
            <a:ext cx="30175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 / 0.7–1.2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389120"/>
            <a:ext cx="438912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489120"/>
            <a:ext cx="4206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 cho RAG · Cao cho sáng tạo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20640"/>
            <a:ext cx="365760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220640"/>
            <a:ext cx="34747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score_threshold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120640"/>
            <a:ext cx="320040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220640"/>
            <a:ext cx="301752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0.6–0.8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5120640"/>
            <a:ext cx="438912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5220640"/>
            <a:ext cx="4206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Xác định bằng bộ test câu hỏi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Lỗi thường gặp &amp; Cách khắc phục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6B9D"/>
                </a:solidFill>
              </a:rPr>
              <a:t>Người 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747120" cy="4572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35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Lỗi thường gặp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4320" y="960120"/>
            <a:ext cx="3747120" cy="4572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5760" y="987552"/>
            <a:ext cx="35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Hậu quả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1440" y="960120"/>
            <a:ext cx="3752880" cy="4572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2880" y="987552"/>
            <a:ext cx="357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Cách khắc phục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374712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63040"/>
            <a:ext cx="3564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Không set metadata khi tạo Document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4320" y="1463040"/>
            <a:ext cx="374712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5760" y="1563040"/>
            <a:ext cx="3564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Không lọc/trích nguồn được về sau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1440" y="1463040"/>
            <a:ext cx="375288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2880" y="1563040"/>
            <a:ext cx="357000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Set source, section ngay từ đầu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374712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94560"/>
            <a:ext cx="3564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chunk_size quá lớn hoặc quá nhỏ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4320" y="2194560"/>
            <a:ext cx="374712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5760" y="2294560"/>
            <a:ext cx="3564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Model thiếu ngữ cảnh / bị nhiễu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1440" y="2194560"/>
            <a:ext cx="375288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2880" y="2294560"/>
            <a:ext cx="357000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 nhiều size, tiếng Việt ~800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74712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26080"/>
            <a:ext cx="3564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Prompt không ràng buộc "không biết"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4320" y="2926080"/>
            <a:ext cx="374712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5760" y="3026080"/>
            <a:ext cx="3564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Hallucinate khi câu hỏi ngoài phạm vi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1440" y="2926080"/>
            <a:ext cx="375288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2880" y="3026080"/>
            <a:ext cx="357000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Dùng Prompt Mức 3 + câu bẫy test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374712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757600"/>
            <a:ext cx="3564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Không đặt score_threshold cho retriever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4320" y="3657600"/>
            <a:ext cx="374712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5760" y="3757600"/>
            <a:ext cx="3564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Trả về doc không liên quan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1440" y="3657600"/>
            <a:ext cx="3752880" cy="731520"/>
          </a:xfrm>
          <a:prstGeom prst="rect">
            <a:avLst/>
          </a:prstGeom>
          <a:solidFill>
            <a:srgbClr val="14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2880" y="3757600"/>
            <a:ext cx="357000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similarity_score_threshold + test bộ câu hỏi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89120"/>
            <a:ext cx="374712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89120"/>
            <a:ext cx="3564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Agent không giới hạn số bước/tool call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4320" y="4389120"/>
            <a:ext cx="374712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5760" y="4489120"/>
            <a:ext cx="356424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Lặp vô hạn, tốn chi phí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1440" y="4389120"/>
            <a:ext cx="3752880" cy="731520"/>
          </a:xfrm>
          <a:prstGeom prst="rect">
            <a:avLst/>
          </a:prstGeom>
          <a:solidFill>
            <a:srgbClr val="1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2880" y="4489120"/>
            <a:ext cx="3570000" cy="5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Set max_iterations, giám sát qua LangSmith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Demo Live  &amp; 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▶  Chạy notebook LangChain_Demo_TungMethod.ipynb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▶  Cell 4: đặt PROVIDER = "google" + API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▶  Chạy từng section — quan sát output trực tiếp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▶  Section 10: câu bẫy "Học phí?" → không hallucinate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▶  Section 11: Agent gọi 2 tool tự động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0D4AA"/>
                </a:solidFill>
              </a:rPr>
              <a:t>Mọi câu hỏi?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Cảm ơn đã theo dõi!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CD6F1"/>
                </a:solidFill>
              </a:rPr>
              <a:t>LangChain 1.x · RAG · Agent Pipeline ·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Một — 8 building block tạo nên mọi RAG pipeline: Document → Split → Embed → Store → Retrieve → Prompt → LLM → Parse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Hai — LCEL là trái tim: ghép bằng |, mọi component đều là Runnable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Ba — Chống hallucination không phải may mắn: Prompt Mức 3 + score_threshold + câu bẫy kiểm 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Bốn — Agent mạnh hơn Chain khi câu hỏi phức tạp, nhưng kiểm soát ít hơn — cân nhắc theo 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Năm — LangGraph/LangSmith là bước tiếp theo khi đưa RAG/Agent lên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200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Nhóm: A · B · C ·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D6F1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