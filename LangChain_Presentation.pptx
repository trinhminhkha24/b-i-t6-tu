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7315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87168"/>
            <a:ext cx="12188952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LangChain 1.x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4A9EFF"/>
                </a:solidFill>
              </a:rPr>
              <a:t>Demo từng Method — RAG &amp; Agent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F1"/>
                </a:solidFill>
              </a:rPr>
              <a:t>Seminar Môn Học  ·  Thực hành kèm Slide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40480"/>
            <a:ext cx="1371600" cy="5029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Người A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840480"/>
            <a:ext cx="137160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38404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Người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840480"/>
            <a:ext cx="1371600" cy="50292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8404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Người 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3840480"/>
            <a:ext cx="1371600" cy="502920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38404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Người 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D6F1"/>
                </a:solidFill>
              </a:rPr>
              <a:t>Nhóm trình bày: A · B · C ·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Nội dung &amp; Phân công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234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Mở đầu · §1 Document · §2 Text Splitter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640080" cy="6400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23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§3 Embeddings · §4 Vector 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66160"/>
            <a:ext cx="640080" cy="64008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11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§5 Retriever · §6 Prompt Template · §7 Chat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54880"/>
            <a:ext cx="640080" cy="640080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800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§8 Output Parser · §9 LCEL · §10 RAG · §11 Agent · Kết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LangChain là gì?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4A9EFF"/>
                </a:solidFill>
              </a:rPr>
              <a:t>Người 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39"/>
            <a:ext cx="320040" cy="32004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7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1430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Framework Python/JS để xây dựng ứng dụng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320040" cy="32004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042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0279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Cung cấp các building block: Document, Splitter, Embeddings, VectorStore, Chain,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28999"/>
            <a:ext cx="320040" cy="32004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40156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59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Hỗ trợ mọi LLM provider (Google, OpenAI, Anthropic…) qua API thống nhất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26280"/>
            <a:ext cx="320040" cy="32004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49884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Phiên bản 1.x dùng LCEL (LangChain Expression Language) — ghép component bằng |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669280"/>
            <a:ext cx="1124712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9EFF"/>
                </a:solidFill>
              </a:rPr>
              <a:t>Document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309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AA"/>
                </a:solidFill>
              </a:rPr>
              <a:t>Splitter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98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9EFF"/>
                </a:solidFill>
              </a:rPr>
              <a:t>Embed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487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AA"/>
                </a:solidFill>
              </a:rPr>
              <a:t>VectorStore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9EFF"/>
                </a:solidFill>
              </a:rPr>
              <a:t>Retriever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65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AA"/>
                </a:solidFill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254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9EFF"/>
                </a:solidFill>
              </a:rPr>
              <a:t>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8430" y="5687568"/>
            <a:ext cx="140589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AA"/>
                </a:solidFill>
              </a:rPr>
              <a:t>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§1  Document — Đơn vị dữ liệu cơ bản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4A9EFF"/>
                </a:solidFill>
              </a:rPr>
              <a:t>Người 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858000" cy="2286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from langchain_core.documents import Document
d = Document(
    page_content='Sinh viên đăng ký tối đa 24 tín chỉ.',
    metadata={'source': 'quy_che.md', 'dieu': 4}
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9144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Thuộc tính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371600"/>
            <a:ext cx="429768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4173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page_content  (str)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7373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Nội dung văn bản (bắt buộc)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286000"/>
            <a:ext cx="429768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3317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metadata  (dict)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Nguồn, số trang, điều khoản…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200400"/>
            <a:ext cx="429768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2461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id  (str)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UUID tự sinh (tuỳ chọn)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AA"/>
                </a:solidFill>
              </a:rPr>
              <a:t>💡 Đặt metadata đầy đủ ngay từ bước tạo Document
   — về sau dùng để lọc và trích dẫn nguồn.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§2  RecursiveCharacterTextSplitter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4A9EFF"/>
                </a:solidFill>
              </a:rPr>
              <a:t>Người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Tham số quan trọng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817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chunk_size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40817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500–1000 ký tự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922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Kích thước tối đa mỗi chunk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1401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chunk_overlap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4140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10–20%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980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Số ký tự lặp giữa 2 chunk liền kề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41985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separators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41985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["\n\n","\n"," ",""]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80390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Thứ tự ưu tiên điểm cắt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2569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add_start_index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42569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True/False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097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Lưu vị trí gốc vào metadata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960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Minh hoạ chunk_overlap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417320"/>
            <a:ext cx="5486400" cy="64008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463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Chunk 0: …tối đa 24 tín chỉ. Sinh viên cảnh báo…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148840"/>
            <a:ext cx="5486400" cy="6400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1945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Chunk 1: Sinh viên cảnh báo chỉ được 14 tín…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1417320"/>
            <a:ext cx="1645920" cy="13716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76288" y="19202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</a:rPr>
              <a:t>overlap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D4AA"/>
                </a:solidFill>
              </a:rPr>
              <a:t>⚠  Overlap = 0 trên văn bản có \n\n không làm thay đổi kết quả
    vì splitter đã cắt theo đoạn — overlap chỉ kích hoạt khi cắt ký tự.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§3  Embeddings — Văn bản → Vector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00D4AA"/>
                </a:solidFill>
              </a:rPr>
              <a:t>Người B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943600" cy="10972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</a:rPr>
              <a:t>embed_query(text)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1 str → 1 vector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5564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Dùng cho câu hỏi đầu vào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943600" cy="10972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231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</a:rPr>
              <a:t>embed_documents(texts)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5292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list[str] → list[vector]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2724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Dùng để index tài liệu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960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Cosine Similarity — thước đo "gần nhau"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4630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Câu hỏi: "Đăng ký nhiều nhất bao nhiêu tín chỉ?"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2057400"/>
            <a:ext cx="3035808" cy="38404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965960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+0.83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011679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Mỗi HK đăng ký tối đa 24 tín chỉ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926079"/>
            <a:ext cx="2779776" cy="38404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834639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9EFF"/>
                </a:solidFill>
              </a:rPr>
              <a:t>+0.76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2880359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SV cảnh báo đăng ký tối đa 14 tín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3794759"/>
            <a:ext cx="2267712" cy="384048"/>
          </a:xfrm>
          <a:prstGeom prst="rect">
            <a:avLst/>
          </a:prstGeom>
          <a:solidFill>
            <a:srgbClr val="CCD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703320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D6F1"/>
                </a:solidFill>
              </a:rPr>
              <a:t>+0.62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749039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Lệ phí phúc khảo là 50.000 đồng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4663440"/>
            <a:ext cx="1975104" cy="38404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572000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88"/>
                </a:solidFill>
              </a:rPr>
              <a:t>+0.54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61772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Hôm nay Sài Gòn trời mưa rất 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D4AA"/>
                </a:solidFill>
              </a:rPr>
              <a:t>Demo: GoogleGenerativeAIEmbeddings → vector 3072 chiều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Vector Store — Lưu &amp; Tìm kiếm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00D4AA"/>
                </a:solidFill>
              </a:rPr>
              <a:t>Người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Các method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94360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add_documents(docs)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19656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Index danh sách Document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594360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59151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similarity_search(q, k=3)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34056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Trả k doc gần nhất (cosine)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594360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273551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similarity_search_with_score(...)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48456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Kèm điểm số (score thấp = gần hơn)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94360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18795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max_marginal_relevance_search(...)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62856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MMR: cân bằng liên quan &amp; đa dạng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960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MMR — Maximal Marginal Relevance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417320"/>
            <a:ext cx="5212080" cy="18288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50876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lambda_mult = 1.0  →  thuần liên quan
lambda_mult = 0.5  →  cân bằng (khuyến nghị)
lambda_mult = 0.0  →  thuần đa dạng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FF"/>
                </a:solidFill>
              </a:rPr>
              <a:t>Production: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33756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Chỉ đổi dòng khởi tạo → Chroma / Qdrant / PGVector,
API hoàn toàn giống nhau.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D4AA"/>
                </a:solidFill>
              </a:rPr>
              <a:t>⚠  Ý nghĩa score khác nhau tuỳ provider:
   InMemoryVectorStore → khoảng cách (nhỏ hơn = tốt hơn).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§5  Retriever — VectorStore thành Runnable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9F43"/>
                </a:solidFill>
              </a:rPr>
              <a:t>Người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6400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r = store.as_retriever(
    search_type="mmr",
    search_kwargs={"k": 3, "fetch_k": 8, "lambda_mult": 0.5}
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06040"/>
            <a:ext cx="640080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63347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similarity, k=2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08376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Nhanh, phù hợp câu hỏi cụ thể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20440"/>
            <a:ext cx="640080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54787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mmr, k=3, λ=0.5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22776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Cân bằng liên quan &amp; đa dạng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34840"/>
            <a:ext cx="640080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46227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similarity_score_threshold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37176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Lọc theo ngưỡng — chống hallucination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005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Vì là Runnable → có sẵn: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508760"/>
            <a:ext cx="502920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545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invoke(query)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92938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1 query → list[Document]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2514600"/>
            <a:ext cx="502920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55117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batch(queries)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93522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N queries song song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3520440"/>
            <a:ext cx="502920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355701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stream(query)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94106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Streaming documents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4526280"/>
            <a:ext cx="502920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456285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| operator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94690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Ghép vào LCEL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5321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D4AA"/>
                </a:solidFill>
              </a:rPr>
              <a:t>Ngưỡng lọc: câu ngoài phạm vi nên trả về [] thay vì lôi tài liệu không liên quan.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§6  Prompt Template — Prompt tái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9F43"/>
                </a:solidFill>
              </a:rPr>
              <a:t>Người 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15087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64592" cy="15087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Mức 1 — Mơ hồ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AA"/>
                </a:solidFill>
              </a:rPr>
              <a:t>"Trả lời câu hỏi: {cau_hoi}"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463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F1"/>
                </a:solidFill>
              </a:rPr>
              <a:t>Không có ngữ cảnh, dễ hallucinate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11247120" cy="15087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164592" cy="150876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9EFF"/>
                </a:solidFill>
              </a:rPr>
              <a:t>Mức 2 — Có ngữ cảnh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5468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AA"/>
                </a:solidFill>
              </a:rPr>
              <a:t>"Dựa vào {context}\nTrả lời: {cau_hoi}"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15468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F1"/>
                </a:solidFill>
              </a:rPr>
              <a:t>Tốt hơn nhưng chưa ràng buộc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247120" cy="15087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389120"/>
            <a:ext cx="164592" cy="1508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AA"/>
                </a:solidFill>
              </a:rPr>
              <a:t>Mức 3 — Đầy đủ ràng buộc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AA"/>
                </a:solidFill>
              </a:rPr>
              <a:t>System prompt + chỉ dùng context +
"Nếu không đủ thì nói không biết"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8463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F1"/>
                </a:solidFill>
              </a:rPr>
              <a:t>Giảm hallucination mạnh nhất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A9EFF"/>
                </a:solidFill>
              </a:rPr>
              <a:t>partial() → điền trước biến cố định (ngày, tên trường)  |  MessagesPlaceholder → lịch sử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§7  Chat Model — invoke / stream / batch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9F43"/>
                </a:solidFill>
              </a:rPr>
              <a:t>Người 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1143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64592" cy="11430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9EFF"/>
                </a:solidFill>
              </a:rPr>
              <a:t>invoke(input)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→ AIMessage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Cần câu trả lời hoàn chỉnh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11247120" cy="1143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164592" cy="1143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AA"/>
                </a:solidFill>
              </a:rPr>
              <a:t>stream(input)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077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→ Iterator[AIChunk]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Hiển thị dần cho người dùng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39"/>
            <a:ext cx="11247120" cy="1143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164592" cy="1143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9475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batch(list)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→ list[AIMessage]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02335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Nhiều request song song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11247120" cy="10972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9EFF"/>
                </a:solidFill>
              </a:rPr>
              <a:t>Demo benchmark (gemini-3.5-flash-lite):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577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Tuần tự 3 câu: 40.6s   →   batch(): 38.6s  (~1.1× nhanh hơn)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AA"/>
                </a:solidFill>
              </a:rPr>
              <a:t>temperature=0 → quyết định, temperature cao → sáng tạo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§8 Output Parser  +  §9 LCEL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6B9D"/>
                </a:solidFill>
              </a:rPr>
              <a:t>Người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9EFF"/>
                </a:solidFill>
              </a:rPr>
              <a:t>§8 Output Parser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66928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StrOutputParser()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AIMessage → str   (dùng ở hầu hết mọi chain)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566928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83463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with_structured_output(Pydantic)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39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Ép model trả đúng schema
→ dùng function calling của 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D4AA"/>
                </a:solidFill>
              </a:rPr>
              <a:t>§9 LCEL — ghép bằng  |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417320"/>
            <a:ext cx="5486400" cy="18288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4630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chain = (
    {"context": retriever | format_docs,
     "cau_hoi": RunnablePassthrough()}
    | prompt
    | model
    | StrOutputParser()
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383280"/>
            <a:ext cx="5486400" cy="62179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41985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RunnablePassthrough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34198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Truyền thẳng input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114800"/>
            <a:ext cx="5486400" cy="62179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RunnableParallel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1513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Chạy nhiều nhánh song song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846320"/>
            <a:ext cx="5486400" cy="62179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88289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RunnableLambda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8828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Hàm Python → Runnable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577840"/>
            <a:ext cx="5486400" cy="62179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561441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.assign()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56144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1"/>
                </a:solidFill>
              </a:rPr>
              <a:t>Thêm key vào dict đang chảy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§10  RAG Pipeline Hoàn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6B9D"/>
                </a:solidFill>
              </a:rPr>
              <a:t>Người 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325880" cy="100584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Câu hỏi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7373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D6F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463040"/>
            <a:ext cx="1325880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1554480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Retriever
(k=3)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7373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D6F1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463040"/>
            <a:ext cx="1325880" cy="100584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554480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format_docs()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7373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D6F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463040"/>
            <a:ext cx="1325880" cy="100584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554480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Prompt
Mức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7373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D6F1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325880" cy="1005840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1554480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Gemini
Flash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373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D6F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1463040"/>
            <a:ext cx="1325880" cy="100584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1554480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StrOutput
Parser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7373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D6F1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0" y="1463040"/>
            <a:ext cx="1325880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0" y="1554480"/>
            <a:ext cx="1325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Trả lời
+ Nguồn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EFF"/>
                </a:solidFill>
              </a:rPr>
              <a:t>Kết quả demo: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154680"/>
            <a:ext cx="11247120" cy="71323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2278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</a:rPr>
              <a:t>✅ Trong phạm vi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264408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"Sinh viên đăng ký tối đa 24 tín chỉ (Nguồn: quy_che - §4)"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7640"/>
            <a:ext cx="11247120" cy="71323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5079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</a:rPr>
              <a:t>✅ Trích nguồn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087368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Tên nguồn + điều khoản đính kèm mỗi câu trả lời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00600"/>
            <a:ext cx="11247120" cy="71323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87375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</a:rPr>
              <a:t>✅ Câu bẫy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910328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"Học phí một tín chỉ?" → "Tôi không tìm thấy thông tin này"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623560"/>
            <a:ext cx="11247120" cy="71323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69671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</a:rPr>
              <a:t>✅ Ảnh hưởng 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733288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k=1 cụt  ·  k=3 đủ  ·  k=6 hơi dư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§11  Agent — Model tự chọn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6B9D"/>
                </a:solidFill>
              </a:rPr>
              <a:t>Người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9EFF"/>
                </a:solidFill>
              </a:rPr>
              <a:t>Chain (RAG)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914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D4AA"/>
                </a:solidFill>
              </a:rPr>
              <a:t>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Luồng cố định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1732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Model tự quyết định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Luôn retrieve rồi generate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42316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Gọi tool nào, mấy lần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2900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Kiểm soát cao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42900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Linh hoạt, đa bước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3484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17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Độ trễ dự đoán được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617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Phù hợp câu hỏi phức tạp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12080"/>
            <a:ext cx="11247120" cy="141732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57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Demo: "Em có 3 môn: 3.7 (3tc), 3.0 (4tc), 2.5 (2tc). GPA và điều kiện khóa luận?"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6692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AA"/>
                </a:solidFill>
              </a:rPr>
              <a:t>→ Tool 1: tinh_gpa("3.7:3, 3.0:4, 2.5:2") = 3.12
→ Tool 2: tra_cuu_quy_che("điều kiện làm khóa luận") → trả lời kết hợp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Bảng tổng kết tham số quan trọng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182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6B9D"/>
                </a:solidFill>
              </a:rPr>
              <a:t>Người 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57600" cy="4572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33087" y="960120"/>
            <a:ext cx="3200400" cy="4572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51775" y="960120"/>
            <a:ext cx="4572000" cy="45720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Tham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9875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Giá trị đề xuất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3216" y="9875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Ghi chú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36576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3087" y="1463040"/>
            <a:ext cx="32004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51775" y="1463040"/>
            <a:ext cx="45720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002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chunk_size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600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500–1000 ký tự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1600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Tiếng Việt: ~800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36576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33087" y="2286000"/>
            <a:ext cx="32004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51775" y="2286000"/>
            <a:ext cx="45720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423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chunk_overlap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4528" y="2423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10–20% size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3216" y="2423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100–200 ký tự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08960"/>
            <a:ext cx="36576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33087" y="3108960"/>
            <a:ext cx="32004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51775" y="3108960"/>
            <a:ext cx="45720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k (retriever)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3246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3–5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216" y="3246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Câu hẹp: 3 · Câu rộng: 5–6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31920"/>
            <a:ext cx="36576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33087" y="3931920"/>
            <a:ext cx="32004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51775" y="3931920"/>
            <a:ext cx="45720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690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lambda_mult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4069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0.5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43216" y="40690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Cân bằng liên quan &amp; đa dạng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54880"/>
            <a:ext cx="36576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33087" y="4754880"/>
            <a:ext cx="32004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51775" y="4754880"/>
            <a:ext cx="4572000" cy="7315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892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temperature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48920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0 / 0.7–1.2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3216" y="48920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0 cho RAG · Cao cho sáng tạo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577840"/>
            <a:ext cx="36576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33087" y="5577840"/>
            <a:ext cx="32004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51775" y="5577840"/>
            <a:ext cx="4572000" cy="731520"/>
          </a:xfrm>
          <a:prstGeom prst="rect">
            <a:avLst/>
          </a:prstGeom>
          <a:solidFill>
            <a:srgbClr val="14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150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score_threshold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4528" y="5715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AA"/>
                </a:solidFill>
              </a:rPr>
              <a:t>0.6–0.8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57150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1"/>
                </a:solidFill>
              </a:rPr>
              <a:t>Xác định bằng bộ test câu hỏi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Demo Live  &amp; 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4712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▶  Chạy notebook LangChain_Demo_TungMethod.ipynb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1124712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▶  Cell 4: đặt PROVIDER = "google" + API key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1124712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▶  Chạy từng section — quan sát output trực tiếp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▶  Section 10: câu bẫy "Học phí?" → không hallucinate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120640"/>
            <a:ext cx="11247120" cy="7772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▶  Section 11: Agent gọi 2 tool tự động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64008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D4AA"/>
                </a:solidFill>
              </a:rPr>
              <a:t>Mọi câu hỏi?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88952" cy="7315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61488"/>
            <a:ext cx="12188952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Cảm ơn đã theo dõi!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A9EFF"/>
                </a:solidFill>
              </a:rPr>
              <a:t>LangChain 1.x · RAG · Agent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• Hiểu 8 building block: Doc → Split → Embed → Store → Retrieve → Prompt → LLM → Parse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59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• LCEL là trái tim của LangChain: ghép bằng | để tạo chain linh hoạt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• Chống hallucination: Prompt Mức 3 + score_threshold + câu bẫy kiểm 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• Agent &gt; Chain khi câu hỏi phức tạp cần nhiều tool và nhiều bước suy luận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44652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F1"/>
                </a:solidFill>
              </a:rPr>
              <a:t>Nhóm: A · B · C · 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F1"/>
                </a:solidFill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